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3ab2631-9b4b-d9f4-dbdb-1a3b72163519}">
          <p14:sldIdLst>
            <p14:sldId id="256"/>
            <p14:sldId id="257"/>
            <p14:sldId id="258"/>
          </p14:sldIdLst>
        </p14:section>
        <p14:section name="Data" id="{fdefd7e9-db6d-acbc-3fb3-3c10a6dd9f85}">
          <p14:sldIdLst>
            <p14:sldId id="259"/>
            <p14:sldId id="260"/>
            <p14:sldId id="261"/>
          </p14:sldIdLst>
        </p14:section>
        <p14:section name="Analysis" id="{f77c59b6-353e-4246-6fcf-6348d3068073}">
          <p14:sldIdLst>
            <p14:sldId id="262"/>
            <p14:sldId id="263"/>
            <p14:sldId id="264"/>
            <p14:sldId id="265"/>
          </p14:sldIdLst>
        </p14:section>
        <p14:section name="Conclusion" id="{550dcc26-3ebd-b011-ac49-adf65c14385e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question and what this deliverable covers: the dataset and the validation of the structure-extraction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PROJECT_DESIGN §2, REFERENCES.md. The hypothesis caveat comes from the LOGBOOK, 5 Oct.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Filled boxes: done in this deliverable. Source: PROJECT_DESIGN §4.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HARVEST.md §2–4. Grain: the problem is the row; features are computed per distinct input set (1 107); independence is counted in groups (58).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results/q1_counts_by_type.md, q1_counts_by_subfamily.md. Note: the 9 molecule problems are labelled SYNTHETIC in provenance but counted tier 2; either way the share rounds to 55%.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CLEANUP_LOG.md and data_final/CHANGELOG.md.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QnA_what_to_do.md §2.1–2.4.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ANALYSIS_RESULTS §Q2. Permutation test (5 000 group shuffles) not yet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ANALYSIS_RESULTS §Q3. Two readings remain: features too coarse (Hodge complex would keep term overlaps), or domain is not the partition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ANALYSIS_RESULTS §Q4. Laws: Calabrese &amp; Cardy 2004, Hastings 2007, Kass &amp; Raftery 1995.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ANALYSIS_RESULTS, 'What the study supports' 1–5.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ANALYSIS_RESULTS status, CLEANUP_LOG, DECISIONS §11, PROJECT_DESIGN §4.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Dargham · DALAS TME4 · structure of learning problems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underlying structure predict quantum trainability and dequantization?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bg2"/>
                </a:solidFill>
              </a:rPr>
              <a:t>A dataset of 1 368 learning problems, and a first test of the structure we extract from them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Charbel A. Dargham · DALAS, TME4 · Sorbonne Université, M1 Quantum Information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Can structure predict how a quantum model will behave?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7276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circuits do not train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McClean et al. 2018: in random, structure-free circuits, gradients shrink exponentially with the number of qubits (barren plateaus).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4256" y="1371600"/>
            <a:ext cx="35204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285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2936" y="157276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restores gradients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22402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Building the problem's symmetry in keeps the dynamical Lie algebra (DLA) small, and a small DLA gives large gradients (Larocca et al. 2022; Ragone et al. 2024).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19872" y="1371600"/>
            <a:ext cx="35204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847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88552" y="157276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may remove the advantage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2402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small DLA can let a classical computer imitate the model, i.e. dequantize it (Cerezo et al. 2025; Goh et al., g-sim).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Question.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Can the underlying structure of a learning problem (symmetry, locality, spectrum, data complexity) predict, before training, whether structure-preserving quantum models of it will be trainable and resist dequantization? Only symmetry has a theorem linking it to the trainability formula; for the other three the link is our working hypothesis.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project runs in two phases; this study checks the first links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57400" cy="2377440"/>
          </a:xfrm>
          <a:prstGeom prst="roundRect">
            <a:avLst>
              <a:gd name="adj" fmla="val 3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Collect problems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1 368 real and generated learning problems, four types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16352" y="1463040"/>
            <a:ext cx="2057400" cy="2377440"/>
          </a:xfrm>
          <a:prstGeom prst="roundRect">
            <a:avLst>
              <a:gd name="adj" fmla="val 3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9232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Extract structure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26974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factor graph and 12 features per input; validated here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84064" y="1463040"/>
            <a:ext cx="2057400" cy="23774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66944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266944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 circuits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66944" y="26974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natural (twirled), generic control, path model with dial 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51776" y="1463040"/>
            <a:ext cx="2057400" cy="23774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34656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534656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Fingerprint &amp; predict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534656" y="26974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DLA size and blocks; Ragone and g-sim predictions committed first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19488" y="1463040"/>
            <a:ext cx="2057400" cy="23774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Measure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802368" y="26974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output variance, training outcome, classical simulation cost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Phase 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064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36168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B: the predictor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statistical model from a circuit's fingerprint to (trainable?, hard to simulate?). It is always tested on problem families it has never seen, and counts as a success only if it beats the theoretical formulas where their conditions fail: shallow circuits, approximate symmetry.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problem is a learning task whose inputs define an operator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indent="0" marL="0">
              <a:spcAft>
                <a:spcPts val="600"/>
              </a:spcAft>
              <a:buNone/>
            </a:pPr>
            <a:r>
              <a:rPr lang="en-US" sz="2200" b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(X</a:t>
            </a:r>
            <a:pPr indent="0" marL="0">
              <a:spcAft>
                <a:spcPts val="600"/>
              </a:spcAft>
              <a:buNone/>
            </a:pPr>
            <a:r>
              <a:rPr lang="en-US" sz="22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Y</a:t>
            </a:r>
            <a:pPr indent="0" marL="0">
              <a:spcAft>
                <a:spcPts val="600"/>
              </a:spcAft>
              <a:buNone/>
            </a:pPr>
            <a:r>
              <a:rPr lang="en-US" sz="22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μ</a:t>
            </a:r>
            <a:pPr indent="0" marL="0">
              <a:spcAft>
                <a:spcPts val="600"/>
              </a:spcAft>
              <a:buNone/>
            </a:pPr>
            <a:r>
              <a:rPr lang="en-US" sz="22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</a:t>
            </a:r>
            <a:pPr indent="0" marL="0">
              <a:spcAft>
                <a:spcPts val="600"/>
              </a:spcAft>
              <a:buNone/>
            </a:pPr>
            <a:r>
              <a:rPr lang="en-US" sz="22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f*)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inputs on n = 4…12 sites, labels ±1, samples with a fixed 70/30 split, one differential equation per input through an operator M(x), and the label rule. The task operator M̄ is built from TRAIN only.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68580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874520"/>
                <a:gridCol w="13716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Operator M(x)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Equation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Sources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GRAPH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Laplacian L = BᵀWB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 real networks (Netzschleuder), Alchemy &amp; ZINC molecules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COVARIANCE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precision matrix Q = R⁻¹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Ornstein–Uhlenbeck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EEG (MOABB), 9 UEA sensor sets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DIAGONAL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clause-penalty Hamiltonian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Schrödinger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 SAT generators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QUANTUM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non-commuting Hamiltonian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Schrödinger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 spin chains, 6 molecules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45720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The type is fixed by the operator, not by the domain: MaxCut encodes like a graph, 3-SAT has three-qubit terms a graph cannot have. Every input passes an equation check (0 failures).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harvest: 1 368 problems from 58 independent sources</a:t>
            </a:r>
            <a:endParaRPr lang="en-US" sz="3000" dirty="0"/>
          </a:p>
        </p:txBody>
      </p:sp>
      <p:pic>
        <p:nvPicPr>
          <p:cNvPr id="3" name="Image 0" descr="/tmp/claude-0/-home-claude/19f52725-fb58-59e9-96f2-baa14138c09f/scratchpad/deck/img/fig_q1_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503920" cy="3849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41832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1 368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941832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problems (binary tasks)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1832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41832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source groups: the true unit of independence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418320" y="3931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4663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problems have real inputs (tiers 1–2)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Weak point: 350 of COVARIANCE's 404 problems come from 2 EEG datasets; GRAPH's 345 problems rest on 93 distinct input sets.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Cleaning: six stated rules, raw data untouched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Found in the raw harvest (1 379 problems)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Rule applied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TRAIN/TEST leak: identical inputs on both sides, 22 problems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R2 group-aware re-split; R3 weights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balance below 0.2 floor, 1 problem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R1 excluded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Degenerate ground states, 24% of spin samples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re-harvest in a fixed symmetry sector (642 → 10 on a dry run)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Hartree–Fock not converged, 2 H₂O geometries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R5 samples removed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Uninformative operator (identity), 475 UEA samples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R6 flagged, sensitivity 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46720" y="1280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→ 0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04672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problems with a TRAIN/TEST leak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606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FAIL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3337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 the audit of the final set (2 WARN: TEST balance 0.17)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931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337 930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4663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samples in 1 368 problems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029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 raw files' sha256 is identical before and after the build. XY-periodic (10 problems) excluded: rejected by the pipeline after a solver failure.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common object for four types: the factor graph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2704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graph of M(x)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node per site, one per term of the operator, each term joined to the sites it acts on and weighted by its normalised coefficient (Kschischang, Frey &amp; Loeliger 2001). It keeps many-body terms, which a coupling matrix would lose.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2588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2704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scale-free features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945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Locality: terms per site, term sizes, degree spread, support density. Symmetry: colour-refinement classes. Spectrum: entropy, participation ratio and connectivity of the factor graph's Laplacian. Median over each problem's inputs (to be revisited).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84632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forced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fixed exactly by the type's definition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pipeline check: must match exactly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predictable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follows from the generator's parameters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finding only if the data deviate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found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depends on real data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finding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Every (feature, type) cell was classified before any result was seen.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Q2: types differ in spectrum, but only GRAPH stands apart</a:t>
            </a:r>
            <a:endParaRPr lang="en-US" sz="3000" dirty="0"/>
          </a:p>
        </p:txBody>
      </p:sp>
      <p:pic>
        <p:nvPicPr>
          <p:cNvPr id="3" name="Image 0" descr="/tmp/claude-0/-home-claude/19f52725-fb58-59e9-96f2-baa14138c09f/scratchpad/deck/img/fig_q2_spec_entro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766560" cy="3767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89520" y="128016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Method.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mixed model per feature: type baseline + smooth curve in n per type + random offset per source (Wood 2017). Level and shape tests, Holm-corrected over 12 features.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Spectral features differ by type (p 10⁻¹² to 5·10⁻⁷) and scale differently with n; marginal R² 0.30–0.55. GRAPH differs from every type (p &lt; 10⁻⁴); the other three are close (entropy at n = 10: 0.97, 0.96, 0.98).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All forced values match exactly; results unchanged without flagged samples.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74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18–132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06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effective observations, not 1 107 (ICC 0.5–0.9): sources dominate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Q3: the type is recovered, the domain within a type is not</a:t>
            </a:r>
            <a:endParaRPr lang="en-US" sz="3000" dirty="0"/>
          </a:p>
        </p:txBody>
      </p:sp>
      <p:pic>
        <p:nvPicPr>
          <p:cNvPr id="3" name="Image 0" descr="/tmp/claude-0/-home-claude/19f52725-fb58-59e9-96f2-baa14138c09f/scratchpad/deck/img/q3a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294436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Balanced acc.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Q3a: 4 types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Q3b: GRAPH domains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Q3b: COVARIANCE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Q3b: DIAGONAL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Q3b: QUANTUM*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389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regression, one source held out at a time, three size controls (n-only baseline, Dinga et al. 2020, size-balanced subset). Type errors fall where the operator definitions predict (NAE-3, 2-SAT are pairwise, read as GRAPH). Below-chance scores are a known effect of leave-one-group-out with few sources (Jamalabadi et al. 2016). *Trivial: forced spin-chain features.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Q4: structure changes lawfully with n</a:t>
            </a:r>
            <a:endParaRPr lang="en-US" sz="3000" dirty="0"/>
          </a:p>
        </p:txBody>
      </p:sp>
      <p:pic>
        <p:nvPicPr>
          <p:cNvPr id="3" name="Image 0" descr="/tmp/claude-0/-home-claude/19f52725-fb58-59e9-96f2-baa14138c09f/scratchpad/deck/img/fig_q4_entanglement_XX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863840" cy="2624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78240" y="1280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/ 28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778240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forced laws match exactly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379 / 428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3337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trends monotone in 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3931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177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4663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laws nameable at n ≤ 12 (ΔBIC &gt; 10)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14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sub-family followed across n = 4…12. On open XXZ chains in the critical phase, the entanglement slope is 0.18–0.21 against the Calabrese–Cardy prediction c/6 = 0.167, inside the interval in all four cases. Four readings depend on the flagged degenerate states.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study supports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3619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630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Correct. </a:t>
            </a:r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every forced value and law matches; the one bug found was fixed before results were read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45059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774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Varied, but coarse. </a:t>
            </a:r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spectral features separate GRAPH from the rest, not the other three types from each other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36499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918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Lawful in n. </a:t>
            </a:r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monotone trends, Calabrese–Cardy on critical XXZ; most laws unnameable at n ≤ 12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27939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2062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Operator, not domain. </a:t>
            </a:r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the kind of operator is recovered; the domain within a type is not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19379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193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206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Few independent sources. </a:t>
            </a:r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18–132 effective observations: favour source diversity, hold out whole sources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This validates the extracted structure; trainability and dequantization need simulated circuits.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270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the analysis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permutation tests (Q2: 5 000, Q3: 1 000 group shuffles) and confirm the open analysis choices. The robustness study (Q6) was not done.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4256" y="1325880"/>
            <a:ext cx="35204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28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2936" y="15270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Summarise the inputs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Plot each problem's per-input distributions, then decide how to summarise them; align the molecules' origin tier across files.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19872" y="1325880"/>
            <a:ext cx="35204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8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88552" y="15270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State Space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first instance L = (C; F; Φ), Hodge Laplacians on each factor graph's complex: one medium to explain structure ⇒ function.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1064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41648"/>
            <a:ext cx="10012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rest of Phase 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091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natural, generic and path circuits from each problem, fingerprint them, commit the Ragone and g-sim predictions, and measure trainability and classical simulation cost; validate the predictor by holding out whole sources.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McClean et al., Barren plateaus in quantum neural network training landscapes, Nat. Commun. 9, 4812 (2018)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Larocca et al., Group-invariant quantum machine learning, PRX Quantum 3, 030341 (2022)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Ragone et al., A Lie algebraic theory of barren plateaus, Nat. Commun. 15, 7172 (2024); Fontana et al., Nat. Commun. (2024)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Cerezo et al., Cost function dependent barren plateaus, Nat. Commun. 12, 1791 (2021)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Cerezo et al., Does provable absence of barren plateaus imply classical simulability?, Nat. Commun. 16, 7907 (2025)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Goh et al., Lie-algebraic classical simulations for quantum computing, arXiv:2308.01432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Kschischang, Frey &amp; Loeliger, Factor graphs and the sum-product algorithm (2001)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Wood (2017); Pedersen et al. (2019); Aarts et al. (2014); Nakagawa &amp; Schielzeth (2013): mixed models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Roberts et al. (2017); Dinga et al. (2020); Jamalabadi et al. (2016): grouped validation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Calabrese &amp; Cardy (2004); Hastings (2007); Kass &amp; Raftery (1995): laws in 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Data: Netzschleuder; TUDataset (Morris et al. 2020), Alchemy (Chen et al. 2019); MOABB; UEA archive (Bagnall et al. 2018)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ucture Study">
  <a:themeElements>
    <a:clrScheme name="Structure Study">
      <a:dk1>
        <a:srgbClr val="1B1F24"/>
      </a:dk1>
      <a:lt1>
        <a:srgbClr val="FFFFFF"/>
      </a:lt1>
      <a:dk2>
        <a:srgbClr val="1F3A3D"/>
      </a:dk2>
      <a:lt2>
        <a:srgbClr val="EEF3F2"/>
      </a:lt2>
      <a:accent1>
        <a:srgbClr val="1F6F6B"/>
      </a:accent1>
      <a:accent2>
        <a:srgbClr val="D9822B"/>
      </a:accent2>
      <a:accent3>
        <a:srgbClr val="2B7BD9"/>
      </a:accent3>
      <a:accent4>
        <a:srgbClr val="18A97A"/>
      </a:accent4>
      <a:accent5>
        <a:srgbClr val="E5A50A"/>
      </a:accent5>
      <a:accent6>
        <a:srgbClr val="8A8F98"/>
      </a:accent6>
      <a:hlink>
        <a:srgbClr val="1F6F6B"/>
      </a:hlink>
      <a:folHlink>
        <a:srgbClr val="5E7F7C"/>
      </a:folHlink>
    </a:clrScheme>
    <a:fontScheme name="Structure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Underlying Structure Predict Quantum Trainability and Dequantization?</dc:title>
  <dc:subject>PptxGenJS Presentation</dc:subject>
  <dc:creator>Charbel A. Dargham</dc:creator>
  <cp:lastModifiedBy>Charbel A. Dargham</cp:lastModifiedBy>
  <cp:revision>1</cp:revision>
  <dcterms:created xsi:type="dcterms:W3CDTF">2026-10-11T22:08:59Z</dcterms:created>
  <dcterms:modified xsi:type="dcterms:W3CDTF">2026-10-11T22:08:59Z</dcterms:modified>
</cp:coreProperties>
</file>